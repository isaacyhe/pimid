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8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44" y="2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2C0F-7829-C8E7-29E2-B181A6697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12188-6F8A-6CF1-D6BB-01263303B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B96D7-F808-FF9D-9AFC-24A9EE349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40B7-5797-4ED4-9AD8-294ACCE660F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68711-AE46-5251-7861-1E88A76D9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5ACFF-1DBF-3A41-D507-5CCEB2E31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501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7F316-070E-159F-9E72-09A10648C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2F33B-220E-FC7B-D829-B0621EB43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2E0A0-EEA3-0A1A-845F-8C8500AFE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40B7-5797-4ED4-9AD8-294ACCE660F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BE807-4DBA-749B-6A16-CD1CAE72C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74D89-96B3-FF5D-06D9-BB007F8B6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76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1F23B-FCAE-861B-3150-8473E289F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5B119-73E3-A177-9135-83D25E1AF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5144A-2A78-7F30-14D9-46B6B912C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40B7-5797-4ED4-9AD8-294ACCE660F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3F1CB-D67C-4C0B-3908-FAA0B0722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C3E54-6424-C37C-AC07-6453844D6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6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51947-5F99-1D18-ACFB-147E67535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5D71A-69F7-8462-151F-9F99ACE2BF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5D57A-B935-DCA9-3E56-719C59BA0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F2205-C794-BABE-4952-CD7CA9E7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40B7-5797-4ED4-9AD8-294ACCE660F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8AEC1-4923-0C94-9EB5-E3B6BF9AA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4AAF9-93AF-237E-7AF2-5FCA93D2A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40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28FD-1F27-069E-BB20-123D288C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4F337-F727-5D51-0DF4-70A710771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D2C1B1-0600-ED60-F743-F611E4B45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E7AABD-7994-8704-1D89-F4A9E1D3D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8A5FB2-1809-515A-DE50-8F651532FD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F79BB9-AF84-BFB9-8A8C-A9EAAF06A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40B7-5797-4ED4-9AD8-294ACCE660F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C6008-0DC4-BCE3-496D-1DEA069FF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BCBDE5-249E-DE97-16A6-47C5F02DB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411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77E4E-6082-5F7C-BC3B-623215030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F6154A-595C-3786-4212-489404EFD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40B7-5797-4ED4-9AD8-294ACCE660F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3DB99B-16C7-0282-C350-9173902DC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380506-9104-3F79-9C94-783ECBC89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01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81D51-6123-7939-CBA2-6ED26FFD4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40B7-5797-4ED4-9AD8-294ACCE660F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CFA7A5-1981-BD05-0665-431AFD83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D2BA0-1335-3BB1-C22C-FF4760E24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331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108CB-6BDF-213E-326D-365A9C88C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DBC1B-D811-EF04-A99D-14E4A1413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D41B29-DAB3-28E1-C9C3-37F504D07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59188-0C37-237E-BC88-72273164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40B7-5797-4ED4-9AD8-294ACCE660F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26A46-343F-A018-BC95-407789591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24B0B-E9C4-1720-8FBC-D228E87F1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230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20E75-9EE7-5908-EA45-4A209D0DF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858CCB-DBAC-5887-194B-88EC4D348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E1806-0DA8-E4D6-FF1D-17AE6CA8ED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F4357-A843-0735-76A3-1853481E7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40B7-5797-4ED4-9AD8-294ACCE660F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0E7C0-15FB-983C-9EA4-F97C2FF44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B3BF6-5C5E-8D22-A4C3-6E16CF88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6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AD7B8-CA09-289C-7638-4B49FEAE9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DF0774-96F8-ABAF-06F8-F70E25455A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DA821-FABD-1705-A383-8BC68BE56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40B7-5797-4ED4-9AD8-294ACCE660F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9DE8F-93F7-1E2B-301B-D9604FB1A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520E3-6D5C-D815-3646-E64224EC2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90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918AEF-795F-2AC3-EB1D-735DE54377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67A6AF-A593-C190-78A1-82FCA057A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76534-34F2-D448-CCAF-FFFCE801A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40B7-5797-4ED4-9AD8-294ACCE660F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90B35-F8F1-AB89-A21F-801837329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5F860-3933-92A4-C07E-D7293085D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588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809292-3CFD-F23C-BD50-78CAF28D8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4DB33-4E73-DA57-DA30-F375872E3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EF434-8EA9-6452-F2FA-1864C56422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F540B7-5797-4ED4-9AD8-294ACCE660F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1BF42-E063-3037-7A1E-8C97EEE455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C3882-4050-5A70-6A45-105ED29EC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95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CF6F-3C5A-7D39-BA57-E5E0AC0224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b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PIMID: A Full-System Simulator for Processing-in-Memory with Intricacy and Diversity</a:t>
            </a:r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0F0E53-0342-7A27-537B-E16C60188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Yuan He</a:t>
            </a:r>
            <a:r>
              <a:rPr lang="en-US" sz="3200" b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Masaaki Kondo</a:t>
            </a:r>
            <a:r>
              <a:rPr lang="en-US" sz="32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Galen M. Shipman</a:t>
            </a:r>
            <a:r>
              <a:rPr lang="en-US" sz="32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Jered B. Dominguez-Trujillo</a:t>
            </a:r>
            <a:r>
              <a:rPr lang="en-US" sz="32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Kazi Asifuzzaman</a:t>
            </a:r>
            <a:r>
              <a:rPr lang="en-US" sz="32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  <a:p>
            <a:endParaRPr lang="en-US" sz="3200" baseline="30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R-CCS, </a:t>
            </a:r>
            <a:r>
              <a:rPr lang="en-US" sz="32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LANL, </a:t>
            </a:r>
            <a:r>
              <a:rPr lang="en-US" sz="32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ORNL</a:t>
            </a:r>
          </a:p>
        </p:txBody>
      </p:sp>
    </p:spTree>
    <p:extLst>
      <p:ext uri="{BB962C8B-B14F-4D97-AF65-F5344CB8AC3E}">
        <p14:creationId xmlns:p14="http://schemas.microsoft.com/office/powerpoint/2010/main" val="1272174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B9A98-E0BB-D291-FD6E-6A1D31BEA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390" y="409893"/>
            <a:ext cx="11051822" cy="1325563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Generation High Performance Architecture Research Team</a:t>
            </a:r>
            <a:b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RIKEN Center for Computational Science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87BAAE-B875-1EA1-6D2B-C171DDC35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968" y="1923209"/>
            <a:ext cx="7678222" cy="432495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EE0B0BC-4D1C-3182-2445-595CAFE449DF}"/>
              </a:ext>
            </a:extLst>
          </p:cNvPr>
          <p:cNvSpPr/>
          <p:nvPr/>
        </p:nvSpPr>
        <p:spPr>
          <a:xfrm rot="19843133">
            <a:off x="865844" y="1996396"/>
            <a:ext cx="2968977" cy="1456267"/>
          </a:xfrm>
          <a:prstGeom prst="ellipse">
            <a:avLst/>
          </a:prstGeom>
          <a:noFill/>
          <a:ln w="127000" cmpd="thickThin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FugakuNEXT</a:t>
            </a:r>
            <a:endParaRPr lang="en-US" sz="4400" b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047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8E682-B562-84BE-FB7D-2AA4FA858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Outline</a:t>
            </a:r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A2A49-7FB6-9E99-18E1-D447E264B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and motivation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in current PIM research tools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PIMID: our solution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features of PIMID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Comparison with existing Tools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Conclusions and future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1218838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B8E38-AEEC-275B-4F66-781B065F1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Memory Wall Challenge</a:t>
            </a:r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F71B3-A80A-EBFE-4D84-7E2AED522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Growing Computational Demands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Conventional memory systems struggle to keep pace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movement costs dominate energy consumption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innovative approaches to reduce data movement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Processing-in-Memory (PIM) promises to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 computation closer to the memory system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data movement between processor and memory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performance and energy efficiency</a:t>
            </a:r>
          </a:p>
          <a:p>
            <a:endParaRPr lang="en-US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current PIM research tools have significant limitations...</a:t>
            </a:r>
          </a:p>
        </p:txBody>
      </p:sp>
    </p:spTree>
    <p:extLst>
      <p:ext uri="{BB962C8B-B14F-4D97-AF65-F5344CB8AC3E}">
        <p14:creationId xmlns:p14="http://schemas.microsoft.com/office/powerpoint/2010/main" val="2982870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23AB9-D032-D50F-F2B0-DDB3172FC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in Current PIM Research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FE80D-9747-CF21-7A1B-499415E99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 Limitations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Mostly device-centric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full-system perspective</a:t>
            </a:r>
          </a:p>
          <a:p>
            <a:pPr lvl="1"/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Support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Mostly DRAM-centric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SRAM, STT-MRAM, and other emerging memory technologies</a:t>
            </a:r>
          </a:p>
          <a:p>
            <a:pPr lvl="1"/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flexibility in architectural modeling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Assuming naive PE placements and addressing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Lacking network models for in-memory communication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proper programming model support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power models for compute parts</a:t>
            </a:r>
          </a:p>
        </p:txBody>
      </p:sp>
    </p:spTree>
    <p:extLst>
      <p:ext uri="{BB962C8B-B14F-4D97-AF65-F5344CB8AC3E}">
        <p14:creationId xmlns:p14="http://schemas.microsoft.com/office/powerpoint/2010/main" val="3459246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606A2-A8A7-ABCA-4D06-F5710FF1C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Our Solution =&gt; PIMID</a:t>
            </a:r>
            <a:r>
              <a:rPr lang="en-US" sz="4800" b="1" baseline="30000" dirty="0"/>
              <a:t>*</a:t>
            </a:r>
            <a:endParaRPr lang="en-US" sz="4800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6CA57-73EB-05F4-47B6-565FCC25F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50" y="1547446"/>
            <a:ext cx="7709096" cy="4811151"/>
          </a:xfrm>
        </p:spPr>
        <p:txBody>
          <a:bodyPr>
            <a:normAutofit fontScale="55000" lnSpcReduction="20000"/>
          </a:bodyPr>
          <a:lstStyle/>
          <a:p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comprehensive full-system PIM simulator built on proven foundations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Extended from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MultiPIM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https://github.com/Systems-ShiftLab/MultiPIM</a:t>
            </a:r>
          </a:p>
          <a:p>
            <a:pPr lvl="1"/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MultiPIM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itself is already a somehow mature simulator allowing architectural exploration on PIM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exetended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with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capabilities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features to add</a:t>
            </a:r>
          </a:p>
          <a:p>
            <a:pPr lvl="1"/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Co-simulation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host and PIM devices</a:t>
            </a:r>
          </a:p>
          <a:p>
            <a:pPr lvl="1"/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memory technologies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support</a:t>
            </a:r>
          </a:p>
          <a:p>
            <a:pPr lvl="1"/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Finer-grained configurability</a:t>
            </a:r>
            <a:endParaRPr lang="en-US" sz="2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model 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within the memory system</a:t>
            </a:r>
          </a:p>
          <a:p>
            <a:pPr lvl="1"/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Model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compute</a:t>
            </a:r>
          </a:p>
          <a:p>
            <a:endParaRPr lang="en-US" sz="3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3800" b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sz="3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PIMID = Processing-in-Memory with Intricacy and Diversity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6B569D-FD4A-7237-9556-A08159595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621" y="3744729"/>
            <a:ext cx="4346394" cy="19373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547B0B-4889-1CC2-A621-C91A6FA2B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944" y="599680"/>
            <a:ext cx="819264" cy="2829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201747-3686-14A2-A79B-F52549595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208" y="599680"/>
            <a:ext cx="819264" cy="2829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CE1E14-5F10-20F6-982B-F415948DE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7472" y="599680"/>
            <a:ext cx="819264" cy="2829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E75FEF-B857-78E8-421C-5DE8D2DFD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751" y="599680"/>
            <a:ext cx="819264" cy="28293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34DF2E3-6196-B602-0E54-88E9E093BF45}"/>
              </a:ext>
            </a:extLst>
          </p:cNvPr>
          <p:cNvSpPr/>
          <p:nvPr/>
        </p:nvSpPr>
        <p:spPr>
          <a:xfrm>
            <a:off x="7732918" y="735058"/>
            <a:ext cx="773725" cy="754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CPU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517D76-328C-34DC-6328-63D81FD4316A}"/>
              </a:ext>
            </a:extLst>
          </p:cNvPr>
          <p:cNvSpPr/>
          <p:nvPr/>
        </p:nvSpPr>
        <p:spPr>
          <a:xfrm>
            <a:off x="7732919" y="1903258"/>
            <a:ext cx="773725" cy="39862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MC</a:t>
            </a:r>
          </a:p>
        </p:txBody>
      </p:sp>
      <p:sp>
        <p:nvSpPr>
          <p:cNvPr id="13" name="Arrow: Up-Down 12">
            <a:extLst>
              <a:ext uri="{FF2B5EF4-FFF2-40B4-BE49-F238E27FC236}">
                <a16:creationId xmlns:a16="http://schemas.microsoft.com/office/drawing/2014/main" id="{8E5F7A57-E63D-3577-C759-FA969B644124}"/>
              </a:ext>
            </a:extLst>
          </p:cNvPr>
          <p:cNvSpPr/>
          <p:nvPr/>
        </p:nvSpPr>
        <p:spPr>
          <a:xfrm>
            <a:off x="7998184" y="1512974"/>
            <a:ext cx="243191" cy="378175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Up-Down 13">
            <a:extLst>
              <a:ext uri="{FF2B5EF4-FFF2-40B4-BE49-F238E27FC236}">
                <a16:creationId xmlns:a16="http://schemas.microsoft.com/office/drawing/2014/main" id="{19E3C2B9-B6BC-6A4B-606E-B8406AE317CE}"/>
              </a:ext>
            </a:extLst>
          </p:cNvPr>
          <p:cNvSpPr/>
          <p:nvPr/>
        </p:nvSpPr>
        <p:spPr>
          <a:xfrm rot="16200000" flipH="1">
            <a:off x="10012359" y="515533"/>
            <a:ext cx="224722" cy="3166067"/>
          </a:xfrm>
          <a:prstGeom prst="upDownArrow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29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EB79F-7264-3736-9F4E-C51EBF164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 1: Host-Device Co-Simulation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1F35D-7DC1-92B7-CAC4-E9BF6B190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9821"/>
            <a:ext cx="10515600" cy="2237141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MultiPIM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processes co-simulate at the same time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communicate through sockets to mimic interactions between host and devices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enables one run to collect simulation results of the entire system</a:t>
            </a:r>
          </a:p>
          <a:p>
            <a:pPr lvl="1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22AECD0-F755-8B61-12C9-99B8F11D1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000" y="1690688"/>
            <a:ext cx="4870711" cy="22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95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B174C-0012-3D9D-6B90-A15C90398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b="1" dirty="0"/>
              <a:t>Key Feature 2: Multiple Memory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C49D8-D9A3-79E6-E226-90528C248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2667"/>
            <a:ext cx="10515600" cy="4314295"/>
          </a:xfrm>
        </p:spPr>
        <p:txBody>
          <a:bodyPr>
            <a:normAutofit fontScale="92500"/>
          </a:bodyPr>
          <a:lstStyle/>
          <a:p>
            <a:r>
              <a:rPr lang="en-US" dirty="0"/>
              <a:t>Current </a:t>
            </a:r>
            <a:r>
              <a:rPr lang="en-US" dirty="0" err="1"/>
              <a:t>MultiPIM</a:t>
            </a:r>
            <a:r>
              <a:rPr lang="en-US" dirty="0"/>
              <a:t> supports DRAM (DDR/HBM) through two extra tools</a:t>
            </a:r>
          </a:p>
          <a:p>
            <a:pPr lvl="1"/>
            <a:r>
              <a:rPr lang="en-US" dirty="0"/>
              <a:t>Timing from </a:t>
            </a:r>
            <a:r>
              <a:rPr lang="en-US" dirty="0" err="1"/>
              <a:t>Ramulator</a:t>
            </a:r>
            <a:endParaRPr lang="en-US" dirty="0"/>
          </a:p>
          <a:p>
            <a:pPr lvl="1"/>
            <a:r>
              <a:rPr lang="en-US" dirty="0"/>
              <a:t>Power from </a:t>
            </a:r>
            <a:r>
              <a:rPr lang="en-US" dirty="0" err="1"/>
              <a:t>DRAMPower</a:t>
            </a:r>
            <a:endParaRPr lang="en-US" dirty="0"/>
          </a:p>
          <a:p>
            <a:endParaRPr lang="en-US" dirty="0"/>
          </a:p>
          <a:p>
            <a:r>
              <a:rPr lang="en-US" dirty="0"/>
              <a:t>PIMID has added timing/power support for</a:t>
            </a:r>
          </a:p>
          <a:p>
            <a:pPr lvl="1"/>
            <a:r>
              <a:rPr lang="en-US" dirty="0"/>
              <a:t>SRAM through CACTI</a:t>
            </a:r>
          </a:p>
          <a:p>
            <a:pPr lvl="1"/>
            <a:r>
              <a:rPr lang="en-US" dirty="0"/>
              <a:t>STT-RAM from NVSIM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An interesting outcome after this would be to allow users to have simulated systems having devices from multiple memory technologies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52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0BC1C-B3AD-7F9A-3BAD-12FA8E938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Feature 3: Fine-Grained PE Placements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F3A9A-5957-2E0D-295B-B692E4FA7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6" y="1881896"/>
            <a:ext cx="6876748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PEs in </a:t>
            </a:r>
            <a:r>
              <a:rPr lang="en-US" dirty="0" err="1"/>
              <a:t>MultiPIM</a:t>
            </a:r>
            <a:r>
              <a:rPr lang="en-US" dirty="0"/>
              <a:t> are assumed to have a unified memory address space with the host so PEs can only be seen as rank-level components</a:t>
            </a:r>
          </a:p>
          <a:p>
            <a:pPr lvl="1"/>
            <a:r>
              <a:rPr lang="en-US" dirty="0"/>
              <a:t>Communication between PEs could only happen through the host memory controller</a:t>
            </a:r>
          </a:p>
          <a:p>
            <a:endParaRPr lang="en-US" dirty="0"/>
          </a:p>
          <a:p>
            <a:r>
              <a:rPr lang="en-US" dirty="0"/>
              <a:t>By allowing the placements of PEs inside memory chips and banks, we need to have </a:t>
            </a:r>
            <a:r>
              <a:rPr lang="en-US" b="1" dirty="0"/>
              <a:t>Discrete addressing</a:t>
            </a:r>
            <a:r>
              <a:rPr lang="en-US" dirty="0"/>
              <a:t> for subarray-/bank-/chip-wide PEs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C055BCA-D816-2E67-50C1-81D878679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511" y="1881896"/>
            <a:ext cx="4528660" cy="34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37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14BB3-AA5C-CD2A-9D6F-03C7A30E8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 4: Multiple Programming Model Support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C5F23-4991-B499-0A9D-A0E65FB4D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830" y="1448972"/>
            <a:ext cx="11007970" cy="517691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Programming model support for multi-processing workloads in </a:t>
            </a:r>
            <a:r>
              <a:rPr lang="en-US" dirty="0" err="1"/>
              <a:t>MultiPIM</a:t>
            </a:r>
            <a:r>
              <a:rPr lang="en-US" dirty="0"/>
              <a:t> is shared memory</a:t>
            </a:r>
          </a:p>
          <a:p>
            <a:pPr lvl="1"/>
            <a:r>
              <a:rPr lang="en-US" dirty="0"/>
              <a:t>Workloads can be written/compiled with OpenMP and run in </a:t>
            </a:r>
            <a:r>
              <a:rPr lang="en-US" dirty="0" err="1"/>
              <a:t>MultiPIM</a:t>
            </a:r>
            <a:endParaRPr lang="en-US" dirty="0"/>
          </a:p>
          <a:p>
            <a:pPr lvl="1"/>
            <a:r>
              <a:rPr lang="en-US" dirty="0"/>
              <a:t>This is OK if PEs are placed in ranks, a directory can be placed in the host MC to guarantee cache coherence between PEs </a:t>
            </a:r>
          </a:p>
          <a:p>
            <a:pPr lvl="1"/>
            <a:r>
              <a:rPr lang="en-US" dirty="0"/>
              <a:t>However, this is not reasonable if PEs are allowed to be placed near the banks or inside the chips =&gt; </a:t>
            </a:r>
            <a:r>
              <a:rPr lang="en-US" dirty="0">
                <a:solidFill>
                  <a:srgbClr val="FF0000"/>
                </a:solidFill>
              </a:rPr>
              <a:t>a lot of coherence traffic is about to cross the host MC</a:t>
            </a:r>
          </a:p>
          <a:p>
            <a:r>
              <a:rPr lang="en-US" dirty="0"/>
              <a:t>So we added </a:t>
            </a:r>
            <a:r>
              <a:rPr lang="en-US" b="1" dirty="0"/>
              <a:t>message passing</a:t>
            </a:r>
            <a:r>
              <a:rPr lang="en-US" dirty="0"/>
              <a:t> as another option</a:t>
            </a:r>
          </a:p>
          <a:p>
            <a:pPr lvl="1"/>
            <a:r>
              <a:rPr lang="en-US" dirty="0"/>
              <a:t>Workloads can be written/compiled through MPI with PIMID</a:t>
            </a:r>
          </a:p>
          <a:p>
            <a:pPr lvl="1"/>
            <a:r>
              <a:rPr lang="en-US" dirty="0"/>
              <a:t>Explicit message exchange happens between the PEs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=&gt; A more realistic option here would be to have</a:t>
            </a:r>
          </a:p>
          <a:p>
            <a:pPr lvl="1"/>
            <a:r>
              <a:rPr lang="en-US" dirty="0"/>
              <a:t>Memory sharing up to chip scale</a:t>
            </a:r>
          </a:p>
          <a:p>
            <a:pPr lvl="2"/>
            <a:r>
              <a:rPr lang="en-US" dirty="0"/>
              <a:t>OpenMP-based workloads works if offloaded to PEs in the same chip </a:t>
            </a:r>
          </a:p>
          <a:p>
            <a:pPr lvl="1"/>
            <a:r>
              <a:rPr lang="en-US" dirty="0"/>
              <a:t>Message passing between PEs communicating beyond memory chips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68C669-BB3D-4704-9D58-9593E5AF0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751" y="3205219"/>
            <a:ext cx="3377419" cy="258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350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C22FB-BE37-2DD7-2DE8-656C1C676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 5: Flexible Network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4C437-A1E7-50FA-F1BD-6A3309889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1415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MultiPIM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already has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booksim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support networking inside the memory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integrated GARNET to enable comprehensive network modeling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Topologies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Routing algorithms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 control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see this as a hypothetic feature since current memory designs only have h-trees and crossbars internally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CF3668-BB2F-FB5B-435F-2F12A7ED3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768" y="4144831"/>
            <a:ext cx="3598032" cy="25135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336ED5-887F-0D7F-7AE1-B00F22AD9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872" y="1487702"/>
            <a:ext cx="4675284" cy="251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437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87C34-743E-F6AA-B71D-F5BA9098A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Key Feature 6: Comprehensive Power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51BAF-ECB1-70FA-68E2-05D585C07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power modelling at all for computing parts in </a:t>
            </a:r>
            <a:r>
              <a:rPr lang="en-US" dirty="0" err="1"/>
              <a:t>MultiPIM</a:t>
            </a:r>
            <a:endParaRPr lang="en-US" dirty="0"/>
          </a:p>
          <a:p>
            <a:endParaRPr lang="en-US" dirty="0"/>
          </a:p>
          <a:p>
            <a:r>
              <a:rPr lang="en-US" dirty="0"/>
              <a:t>We added </a:t>
            </a:r>
            <a:r>
              <a:rPr lang="en-US" dirty="0" err="1"/>
              <a:t>McPAT</a:t>
            </a:r>
            <a:r>
              <a:rPr lang="en-US" dirty="0"/>
              <a:t> to support power modelling for the host processor and PEs</a:t>
            </a:r>
          </a:p>
          <a:p>
            <a:pPr lvl="1"/>
            <a:r>
              <a:rPr lang="en-US" dirty="0"/>
              <a:t>From simple in-order to </a:t>
            </a:r>
            <a:r>
              <a:rPr lang="en-US" dirty="0" err="1"/>
              <a:t>OoO</a:t>
            </a:r>
            <a:r>
              <a:rPr lang="en-US" dirty="0"/>
              <a:t> cores with caches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012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E8E93-FC61-B4DA-30FA-200794F4D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Comparisons with Existing Tools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9A6592-6E0A-284D-0120-C11DCAFFE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11" y="1570766"/>
            <a:ext cx="11909778" cy="483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90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49556-B15B-B3EE-2824-A89C03836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64E4D-A4AA-3F19-0875-643391004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689" y="1955409"/>
            <a:ext cx="11356622" cy="4232843"/>
          </a:xfrm>
        </p:spPr>
        <p:txBody>
          <a:bodyPr>
            <a:normAutofit/>
          </a:bodyPr>
          <a:lstStyle/>
          <a:p>
            <a:r>
              <a:rPr lang="en-US" dirty="0"/>
              <a:t>PIMID advances PIM research through</a:t>
            </a:r>
          </a:p>
          <a:p>
            <a:pPr lvl="1"/>
            <a:r>
              <a:rPr lang="en-US" b="1" dirty="0"/>
              <a:t>Comprehensive scope</a:t>
            </a:r>
            <a:r>
              <a:rPr lang="en-US" dirty="0"/>
              <a:t> - host-device co-simulation</a:t>
            </a:r>
          </a:p>
          <a:p>
            <a:pPr lvl="1"/>
            <a:r>
              <a:rPr lang="en-US" b="1" dirty="0"/>
              <a:t>Technology diversity</a:t>
            </a:r>
            <a:r>
              <a:rPr lang="en-US" dirty="0"/>
              <a:t> - DRAM, SRAM, STT-MRAM support</a:t>
            </a:r>
          </a:p>
          <a:p>
            <a:pPr lvl="1"/>
            <a:r>
              <a:rPr lang="en-US" b="1" dirty="0"/>
              <a:t>Architectural flexibility</a:t>
            </a:r>
            <a:r>
              <a:rPr lang="en-US" dirty="0"/>
              <a:t> - Fine-grained PE placement with multiple addressing modes</a:t>
            </a:r>
          </a:p>
          <a:p>
            <a:pPr lvl="1"/>
            <a:r>
              <a:rPr lang="en-US" b="1" dirty="0"/>
              <a:t>Programming model for MP workloads </a:t>
            </a:r>
            <a:r>
              <a:rPr lang="en-US" dirty="0"/>
              <a:t>- OpenMP + MPI support</a:t>
            </a:r>
          </a:p>
          <a:p>
            <a:pPr lvl="1"/>
            <a:r>
              <a:rPr lang="en-US" b="1" dirty="0"/>
              <a:t>Detailed networking</a:t>
            </a:r>
            <a:r>
              <a:rPr lang="en-US" dirty="0"/>
              <a:t> - GARNET-based interconnects</a:t>
            </a:r>
          </a:p>
          <a:p>
            <a:pPr lvl="1"/>
            <a:r>
              <a:rPr lang="en-US" b="1" dirty="0"/>
              <a:t>Complete power modeling</a:t>
            </a:r>
            <a:r>
              <a:rPr lang="en-US" dirty="0"/>
              <a:t> - Host, PE, and memory power</a:t>
            </a:r>
          </a:p>
        </p:txBody>
      </p:sp>
    </p:spTree>
    <p:extLst>
      <p:ext uri="{BB962C8B-B14F-4D97-AF65-F5344CB8AC3E}">
        <p14:creationId xmlns:p14="http://schemas.microsoft.com/office/powerpoint/2010/main" val="1601006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33866-F590-FDD5-9040-7095DD29D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Future Work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14A53-0A70-7BDD-594B-F4BB82BE5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Immediate plan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Open-source release =&gt; Community access and contributions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Scheduled updates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Continued bug fixes and support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 validation - validation support with FPGA?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Upgrade to Intel PIN 3</a:t>
            </a:r>
          </a:p>
        </p:txBody>
      </p:sp>
    </p:spTree>
    <p:extLst>
      <p:ext uri="{BB962C8B-B14F-4D97-AF65-F5344CB8AC3E}">
        <p14:creationId xmlns:p14="http://schemas.microsoft.com/office/powerpoint/2010/main" val="1565765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</TotalTime>
  <Words>764</Words>
  <Application>Microsoft Office PowerPoint</Application>
  <PresentationFormat>Widescreen</PresentationFormat>
  <Paragraphs>120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  PIMID: A Full-System Simulator for Processing-in-Memory with Intricacy and Diversity</vt:lpstr>
      <vt:lpstr>Next Generation High Performance Architecture Research Team RIKEN Center for Computational Science</vt:lpstr>
      <vt:lpstr>Outline</vt:lpstr>
      <vt:lpstr>The Memory Wall Challenge</vt:lpstr>
      <vt:lpstr>Challenges in Current PIM Research Tools</vt:lpstr>
      <vt:lpstr>Our Solution =&gt; PIMID*</vt:lpstr>
      <vt:lpstr>Key Feature 1: Host-Device Co-Simulation</vt:lpstr>
      <vt:lpstr>Key Feature 2: Multiple Memory Technologies</vt:lpstr>
      <vt:lpstr>Key Feature 3: Fine-Grained PE Placements</vt:lpstr>
      <vt:lpstr>Key Feature 4: Multiple Programming Model Support</vt:lpstr>
      <vt:lpstr>Key Feature 5: Flexible Network Support</vt:lpstr>
      <vt:lpstr>Key Feature 6: Comprehensive Power Modeling</vt:lpstr>
      <vt:lpstr>Comparisons with Existing Tools</vt:lpstr>
      <vt:lpstr>Conclusions</vt:lpstr>
      <vt:lpstr>Future Work</vt:lpstr>
    </vt:vector>
  </TitlesOfParts>
  <Company>R-CCS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He</dc:creator>
  <cp:lastModifiedBy>Isaac He</cp:lastModifiedBy>
  <cp:revision>77</cp:revision>
  <dcterms:created xsi:type="dcterms:W3CDTF">2025-08-21T16:26:07Z</dcterms:created>
  <dcterms:modified xsi:type="dcterms:W3CDTF">2025-08-30T07:04:17Z</dcterms:modified>
</cp:coreProperties>
</file>