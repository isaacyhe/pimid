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5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77" r:id="rId14"/>
    <p:sldId id="267" r:id="rId15"/>
    <p:sldId id="268" r:id="rId16"/>
    <p:sldId id="272" r:id="rId17"/>
    <p:sldId id="269" r:id="rId18"/>
    <p:sldId id="273" r:id="rId19"/>
    <p:sldId id="274" r:id="rId20"/>
    <p:sldId id="260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He" userId="b94c372f12195d42" providerId="LiveId" clId="{77479A48-598B-41F8-A1B4-D4157839A236}"/>
    <pc:docChg chg="delSld modSld">
      <pc:chgData name="Isaac He" userId="b94c372f12195d42" providerId="LiveId" clId="{77479A48-598B-41F8-A1B4-D4157839A236}" dt="2025-09-22T13:51:16.276" v="26" actId="20577"/>
      <pc:docMkLst>
        <pc:docMk/>
      </pc:docMkLst>
      <pc:sldChg chg="modSp mod">
        <pc:chgData name="Isaac He" userId="b94c372f12195d42" providerId="LiveId" clId="{77479A48-598B-41F8-A1B4-D4157839A236}" dt="2025-09-22T13:51:16.276" v="26" actId="20577"/>
        <pc:sldMkLst>
          <pc:docMk/>
          <pc:sldMk cId="1218838243" sldId="257"/>
        </pc:sldMkLst>
        <pc:spChg chg="mod">
          <ac:chgData name="Isaac He" userId="b94c372f12195d42" providerId="LiveId" clId="{77479A48-598B-41F8-A1B4-D4157839A236}" dt="2025-09-22T13:51:16.276" v="26" actId="20577"/>
          <ac:spMkLst>
            <pc:docMk/>
            <pc:sldMk cId="1218838243" sldId="257"/>
            <ac:spMk id="3" creationId="{D7CA2A49-7FB6-9E99-18E1-D447E264B734}"/>
          </ac:spMkLst>
        </pc:spChg>
      </pc:sldChg>
      <pc:sldChg chg="del">
        <pc:chgData name="Isaac He" userId="b94c372f12195d42" providerId="LiveId" clId="{77479A48-598B-41F8-A1B4-D4157839A236}" dt="2025-09-22T13:50:27.835" v="0" actId="47"/>
        <pc:sldMkLst>
          <pc:docMk/>
          <pc:sldMk cId="2440938163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737D0-03DB-4145-9FB0-A01362B9A3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3E7F1-A0C9-48D9-A8F3-56F7897A7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0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3E7F1-A0C9-48D9-A8F3-56F7897A74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6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2C0F-7829-C8E7-29E2-B181A6697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12188-6F8A-6CF1-D6BB-01263303B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B96D7-F808-FF9D-9AFC-24A9EE34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68711-AE46-5251-7861-1E88A76D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5ACFF-1DBF-3A41-D507-5CCEB2E3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0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F316-070E-159F-9E72-09A10648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F33B-220E-FC7B-D829-B0621EB43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2E0A0-EEA3-0A1A-845F-8C8500AF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BE807-4DBA-749B-6A16-CD1CAE72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4D89-96B3-FF5D-06D9-BB007F8B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F23B-FCAE-861B-3150-8473E289F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B119-73E3-A177-9135-83D25E1AF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5144A-2A78-7F30-14D9-46B6B912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3F1CB-D67C-4C0B-3908-FAA0B072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C3E54-6424-C37C-AC07-6453844D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6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1947-5F99-1D18-ACFB-147E6753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D71A-69F7-8462-151F-9F99ACE2B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5D57A-B935-DCA9-3E56-719C59BA0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F2205-C794-BABE-4952-CD7CA9E7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8AEC1-4923-0C94-9EB5-E3B6BF9A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4AAF9-93AF-237E-7AF2-5FCA93D2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4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28FD-1F27-069E-BB20-123D288C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4F337-F727-5D51-0DF4-70A710771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2C1B1-0600-ED60-F743-F611E4B45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7AABD-7994-8704-1D89-F4A9E1D3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A5FB2-1809-515A-DE50-8F651532F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79BB9-AF84-BFB9-8A8C-A9EAAF06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C6008-0DC4-BCE3-496D-1DEA069F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CBDE5-249E-DE97-16A6-47C5F02D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1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7E4E-6082-5F7C-BC3B-62321503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6154A-595C-3786-4212-489404EF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DB99B-16C7-0282-C350-9173902D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80506-9104-3F79-9C94-783ECBC8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0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81D51-6123-7939-CBA2-6ED26FFD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FA7A5-1981-BD05-0665-431AFD83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D2BA0-1335-3BB1-C22C-FF4760E2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3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108CB-6BDF-213E-326D-365A9C88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DBC1B-D811-EF04-A99D-14E4A141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41B29-DAB3-28E1-C9C3-37F504D07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59188-0C37-237E-BC88-7227316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26A46-343F-A018-BC95-40778959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4B0B-E9C4-1720-8FBC-D228E87F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3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0E75-9EE7-5908-EA45-4A209D0D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58CCB-DBAC-5887-194B-88EC4D348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E1806-0DA8-E4D6-FF1D-17AE6CA8E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F4357-A843-0735-76A3-1853481E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0E7C0-15FB-983C-9EA4-F97C2FF4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B3BF6-5C5E-8D22-A4C3-6E16CF88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D7B8-CA09-289C-7638-4B49FEAE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F0774-96F8-ABAF-06F8-F70E25455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A821-FABD-1705-A383-8BC68BE5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9DE8F-93F7-1E2B-301B-D9604FB1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20E3-6D5C-D815-3646-E64224EC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9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918AEF-795F-2AC3-EB1D-735DE5437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7A6AF-A593-C190-78A1-82FCA057A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76534-34F2-D448-CCAF-FFFCE801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90B35-F8F1-AB89-A21F-801837329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5F860-3933-92A4-C07E-D7293085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8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09292-3CFD-F23C-BD50-78CAF28D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4DB33-4E73-DA57-DA30-F375872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EF434-8EA9-6452-F2FA-1864C5642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540B7-5797-4ED4-9AD8-294ACCE660F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1BF42-E063-3037-7A1E-8C97EEE45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C3882-4050-5A70-6A45-105ED29EC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1A30E-8171-4E85-9458-65EE2333F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5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CF6F-3C5A-7D39-BA57-E5E0AC022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PIMID: A Full-System Simulator with Intricacy and Diversity for Processing-in-Memory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F0E53-0342-7A27-537B-E16C60188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Yuan He</a:t>
            </a:r>
            <a:r>
              <a:rPr lang="en-US" sz="32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Masaaki Kondo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Galen M. Shipman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^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Jered B. Dominguez-Trujillo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^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Kazi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Asifuzzaman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  <a:p>
            <a:endParaRPr lang="en-US" sz="32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R-CCS, 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^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LANL, 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ORNL</a:t>
            </a:r>
          </a:p>
        </p:txBody>
      </p:sp>
    </p:spTree>
    <p:extLst>
      <p:ext uri="{BB962C8B-B14F-4D97-AF65-F5344CB8AC3E}">
        <p14:creationId xmlns:p14="http://schemas.microsoft.com/office/powerpoint/2010/main" val="127217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E682-B562-84BE-FB7D-2AA4FA85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A2A49-7FB6-9E99-18E1-D447E264B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and motivation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in current PIM research tools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PIMID: our solution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of PIMID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simulation results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 with existing Tools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21883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8E38-AEEC-275B-4F66-781B065F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Memory Wall Challenge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F71B3-A80A-EBFE-4D84-7E2AED522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Growing computational demands but…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Conventional memory systems struggle to keep pace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movement costs dominate energy consumption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innovative approaches to reduce data movement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Processing-in-Memory (PIM) promises to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computation closer to the memory system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data movement between computing and memory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performance and energy efficiency</a:t>
            </a:r>
          </a:p>
          <a:p>
            <a:endParaRPr lang="en-US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current PIM research tools have significant limitations...</a:t>
            </a:r>
          </a:p>
        </p:txBody>
      </p:sp>
    </p:spTree>
    <p:extLst>
      <p:ext uri="{BB962C8B-B14F-4D97-AF65-F5344CB8AC3E}">
        <p14:creationId xmlns:p14="http://schemas.microsoft.com/office/powerpoint/2010/main" val="298287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3AB9-D032-D50F-F2B0-DDB3172F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in Current PIM Research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E80D-9747-CF21-7A1B-499415E99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Limitations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Mostly device-centric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full-system perspective</a:t>
            </a:r>
          </a:p>
          <a:p>
            <a:pPr lvl="1"/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Support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Mostly DRAM-centric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SRAM, STT-MRAM, and other emerging memory technologies</a:t>
            </a:r>
          </a:p>
          <a:p>
            <a:pPr lvl="1"/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flexibility in architectural modeling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Assuming naive PE placements and addressing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Lacking network models for in-memory communication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proper programming model support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power models for compute parts</a:t>
            </a:r>
          </a:p>
        </p:txBody>
      </p:sp>
    </p:spTree>
    <p:extLst>
      <p:ext uri="{BB962C8B-B14F-4D97-AF65-F5344CB8AC3E}">
        <p14:creationId xmlns:p14="http://schemas.microsoft.com/office/powerpoint/2010/main" val="345924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5F81F-5F72-1271-8812-D33B324A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C8B0-445B-03E0-0D27-C296C821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Our Solution =&gt; PIMID</a:t>
            </a:r>
            <a:endParaRPr lang="en-US" sz="4800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EFC61-0F4F-0DD9-29AC-CE0FCD56B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85" y="1690688"/>
            <a:ext cx="7039026" cy="4667909"/>
          </a:xfrm>
        </p:spPr>
        <p:txBody>
          <a:bodyPr>
            <a:normAutofit fontScale="70000" lnSpcReduction="20000"/>
          </a:bodyPr>
          <a:lstStyle/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comprehensive full-system PIM simulator built on proven foundations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Extended from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itself is already a somehow mature simulator allowing architectural exploration on PIM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exetended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with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capabilities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of PIMID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add simulation drivers and models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Co-simulation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host and PIM devices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memory technologies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support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Finer-grained placement 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PEs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programming model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support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model 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 the memory system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Models 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compute and memory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4ACBD-1E60-CE71-AB5D-9BF130932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246" y="4305893"/>
            <a:ext cx="4346394" cy="1937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1818CF-7B9C-7007-F577-7F32440D8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871" y="1263404"/>
            <a:ext cx="4683004" cy="276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4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59CF0-FCF2-4A1A-ECEA-AF9A2C5D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4F1B-0595-D986-CE6E-08B052C3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 1: Interface for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12FE3-110E-76D2-5C4E-88E9F709F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6172200" cy="4486274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PIMID is based on Intel PIN to generate instruction traces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Traces are fed to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ZSim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for cache simulation and performance counting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Stats are fed to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McPAT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power modelling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Memory-related instructions are fed to memory simulation models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standard interface is provided so that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execution models, memory models and power models can be attached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simulation drivers, only trace-driven is currently supported, may consider to include execution-driven ones in the future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087CF-687C-4090-F12A-69D806A3C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969" y="1378733"/>
            <a:ext cx="4683004" cy="2761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A6C6B0-807F-CDC4-25F3-1B6919EA6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969" y="4289518"/>
            <a:ext cx="4683004" cy="21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8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B79F-7264-3736-9F4E-C51EBF16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 2: Host-Device Co-Simulation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1F35D-7DC1-92B7-CAC4-E9BF6B190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9821"/>
            <a:ext cx="10515600" cy="223714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processes co-simulate at the same time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communicate through sockets to mimic interactions between host and devices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enables one run to collect simulation results of the entire system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22AECD0-F755-8B61-12C9-99B8F11D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000" y="1690688"/>
            <a:ext cx="4870711" cy="22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9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174C-0012-3D9D-6B90-A15C9039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Key Feature 3: Multiple Memory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C49D8-D9A3-79E6-E226-90528C248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808" y="1548715"/>
            <a:ext cx="10958383" cy="49441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Current </a:t>
            </a:r>
            <a:r>
              <a:rPr lang="en-US" dirty="0" err="1"/>
              <a:t>MultiPIM</a:t>
            </a:r>
            <a:r>
              <a:rPr lang="en-US" dirty="0"/>
              <a:t> supports DRAM (DDR/HBM) through two extra tools</a:t>
            </a:r>
          </a:p>
          <a:p>
            <a:pPr lvl="1"/>
            <a:r>
              <a:rPr lang="en-US" dirty="0"/>
              <a:t>Timing from </a:t>
            </a:r>
            <a:r>
              <a:rPr lang="en-US" dirty="0" err="1"/>
              <a:t>Ramulator</a:t>
            </a:r>
            <a:endParaRPr lang="en-US" dirty="0"/>
          </a:p>
          <a:p>
            <a:pPr lvl="1"/>
            <a:r>
              <a:rPr lang="en-US" dirty="0"/>
              <a:t>Power from </a:t>
            </a:r>
            <a:r>
              <a:rPr lang="en-US" dirty="0" err="1"/>
              <a:t>DRAMPower</a:t>
            </a:r>
            <a:endParaRPr lang="en-US" dirty="0"/>
          </a:p>
          <a:p>
            <a:endParaRPr lang="en-US" dirty="0"/>
          </a:p>
          <a:p>
            <a:r>
              <a:rPr lang="en-US" dirty="0"/>
              <a:t>PIMID has added timing/power support for</a:t>
            </a:r>
          </a:p>
          <a:p>
            <a:pPr lvl="1"/>
            <a:r>
              <a:rPr lang="en-US" dirty="0"/>
              <a:t>SRAM through CACTI</a:t>
            </a:r>
          </a:p>
          <a:p>
            <a:pPr lvl="1"/>
            <a:r>
              <a:rPr lang="en-US" dirty="0"/>
              <a:t>STT-RAM from NVSIM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Simulation parameters are passed to these extra models for the generation of a table having access latencies and energy consumption</a:t>
            </a:r>
          </a:p>
          <a:p>
            <a:r>
              <a:rPr lang="en-US" dirty="0"/>
              <a:t>An interesting outcome after this would be to allow users to have simulated systems having devices from multiple memory technologies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16960-29E2-1D66-91D0-DDAD4DFA8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9" y="2298355"/>
            <a:ext cx="4977714" cy="198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5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BC1C-B3AD-7F9A-3BAD-12FA8E93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Feature 4: Fine-Grained PE Placements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F3A9A-5957-2E0D-295B-B692E4FA7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6" y="1881896"/>
            <a:ext cx="652648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PEs in </a:t>
            </a:r>
            <a:r>
              <a:rPr lang="en-US" dirty="0" err="1"/>
              <a:t>MultiPIM</a:t>
            </a:r>
            <a:r>
              <a:rPr lang="en-US" dirty="0"/>
              <a:t> are assumed to have a unified memory address space with the host so PEs can only be seen as rank-level components</a:t>
            </a:r>
          </a:p>
          <a:p>
            <a:pPr lvl="1"/>
            <a:r>
              <a:rPr lang="en-US" dirty="0"/>
              <a:t>Communication between PEs could only happen through the host memory controller</a:t>
            </a:r>
          </a:p>
          <a:p>
            <a:endParaRPr lang="en-US" dirty="0"/>
          </a:p>
          <a:p>
            <a:r>
              <a:rPr lang="en-US" dirty="0"/>
              <a:t>By allowing the placements of PEs inside memory chips and banks, we need to have </a:t>
            </a:r>
            <a:r>
              <a:rPr lang="en-US" b="1" dirty="0"/>
              <a:t>Discrete addressing</a:t>
            </a:r>
            <a:r>
              <a:rPr lang="en-US" dirty="0"/>
              <a:t> for subarray-/bank-/chip-wide PEs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C055BCA-D816-2E67-50C1-81D878679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570" y="2186696"/>
            <a:ext cx="4528660" cy="34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3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4BB3-AA5C-CD2A-9D6F-03C7A30E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229"/>
            <a:ext cx="10515600" cy="101059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 5: Multiple Programming Model Support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C5F23-4991-B499-0A9D-A0E65FB4D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829" y="3023286"/>
            <a:ext cx="11458993" cy="360259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Programming model support for multi-processing workloads in </a:t>
            </a:r>
            <a:r>
              <a:rPr lang="en-US" dirty="0" err="1"/>
              <a:t>MultiPIM</a:t>
            </a:r>
            <a:r>
              <a:rPr lang="en-US" dirty="0"/>
              <a:t> is shared memory</a:t>
            </a:r>
          </a:p>
          <a:p>
            <a:pPr lvl="1"/>
            <a:r>
              <a:rPr lang="en-US" dirty="0"/>
              <a:t>Workloads can be written/compiled with OpenMP and run in </a:t>
            </a:r>
            <a:r>
              <a:rPr lang="en-US" dirty="0" err="1"/>
              <a:t>MultiPIM</a:t>
            </a:r>
            <a:endParaRPr lang="en-US" dirty="0"/>
          </a:p>
          <a:p>
            <a:pPr lvl="1"/>
            <a:r>
              <a:rPr lang="en-US" dirty="0"/>
              <a:t>This is OK if PEs are placed in ranks, a directory can be placed in the host MC to guarantee cache coherence between PEs </a:t>
            </a:r>
          </a:p>
          <a:p>
            <a:pPr lvl="1"/>
            <a:r>
              <a:rPr lang="en-US" dirty="0"/>
              <a:t>However, this is not reasonable if PEs are allowed to be placed near the banks or inside the chips =&gt; </a:t>
            </a:r>
            <a:r>
              <a:rPr lang="en-US" dirty="0">
                <a:solidFill>
                  <a:srgbClr val="FF0000"/>
                </a:solidFill>
              </a:rPr>
              <a:t>a lot of coherence traffic is about to cross the host MC</a:t>
            </a:r>
          </a:p>
          <a:p>
            <a:r>
              <a:rPr lang="en-US" dirty="0"/>
              <a:t>So we added </a:t>
            </a:r>
            <a:r>
              <a:rPr lang="en-US" b="1" dirty="0"/>
              <a:t>message passing</a:t>
            </a:r>
            <a:r>
              <a:rPr lang="en-US" dirty="0"/>
              <a:t> as another option</a:t>
            </a:r>
          </a:p>
          <a:p>
            <a:pPr lvl="1"/>
            <a:r>
              <a:rPr lang="en-US" dirty="0"/>
              <a:t>Workloads can be written/compiled through MPI with PIMID</a:t>
            </a:r>
          </a:p>
          <a:p>
            <a:pPr lvl="1"/>
            <a:r>
              <a:rPr lang="en-US" dirty="0"/>
              <a:t>Explicit message exchange happens between the PEs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=&gt; A more realistic option here would be to have</a:t>
            </a:r>
          </a:p>
          <a:p>
            <a:pPr lvl="1"/>
            <a:r>
              <a:rPr lang="en-US" dirty="0"/>
              <a:t>Memory sharing up to chip scale</a:t>
            </a:r>
          </a:p>
          <a:p>
            <a:pPr lvl="2"/>
            <a:r>
              <a:rPr lang="en-US" dirty="0"/>
              <a:t>OpenMP-based workloads works if offloaded to PEs in the same chip </a:t>
            </a:r>
          </a:p>
          <a:p>
            <a:pPr lvl="1"/>
            <a:r>
              <a:rPr lang="en-US" dirty="0"/>
              <a:t>Message passing between PEs communicating beyond memory chips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F14E5-5809-2B8F-EE3A-DCFC49D48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30" y="997302"/>
            <a:ext cx="5723937" cy="18492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A11575-D20A-1B94-D795-3E61E3A46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670" y="997301"/>
            <a:ext cx="6096000" cy="184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5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22FB-BE37-2DD7-2DE8-656C1C67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 6: Flexible Network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C437-A1E7-50FA-F1BD-6A330988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415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already has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support networking inside the memory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integrated GARNET to enable comprehensive network modeling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Topologies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Routing algorithms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control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see this as a hypothetic feature since current memory designs only have h-trees and crossbars internally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CF3668-BB2F-FB5B-435F-2F12A7ED3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768" y="4144831"/>
            <a:ext cx="3598032" cy="2513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336ED5-887F-0D7F-7AE1-B00F22AD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72" y="1487702"/>
            <a:ext cx="4675284" cy="251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37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7C34-743E-F6AA-B71D-F5BA9098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Key Feature 7: Comprehensive Power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51BAF-ECB1-70FA-68E2-05D585C0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power modelling at all for computing parts in </a:t>
            </a:r>
            <a:r>
              <a:rPr lang="en-US" dirty="0" err="1"/>
              <a:t>MultiPIM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added </a:t>
            </a:r>
            <a:r>
              <a:rPr lang="en-US" dirty="0" err="1"/>
              <a:t>McPAT</a:t>
            </a:r>
            <a:r>
              <a:rPr lang="en-US" dirty="0"/>
              <a:t> to support power modelling for the host processor and PEs</a:t>
            </a:r>
          </a:p>
          <a:p>
            <a:pPr lvl="1"/>
            <a:r>
              <a:rPr lang="en-US" dirty="0"/>
              <a:t>From simple in-order to </a:t>
            </a:r>
            <a:r>
              <a:rPr lang="en-US" dirty="0" err="1"/>
              <a:t>OoO</a:t>
            </a:r>
            <a:r>
              <a:rPr lang="en-US" dirty="0"/>
              <a:t> cores with caches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12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24C2-B8B3-AC69-8E68-54DE1286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BD296-EDD7-2BC7-AFE1-0A795DAC6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35" y="3984914"/>
            <a:ext cx="5779734" cy="241588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32 Banks, 1 in-order PE per Bank</a:t>
            </a:r>
          </a:p>
          <a:p>
            <a:r>
              <a:rPr lang="en-US" dirty="0"/>
              <a:t>1MB per bank</a:t>
            </a:r>
          </a:p>
          <a:p>
            <a:r>
              <a:rPr lang="en-US" dirty="0"/>
              <a:t>Woth SRAM, DRAM and STT-MRAM</a:t>
            </a:r>
          </a:p>
          <a:p>
            <a:endParaRPr lang="en-US" dirty="0"/>
          </a:p>
          <a:p>
            <a:r>
              <a:rPr lang="en-US" dirty="0"/>
              <a:t>Tested with BFS workload, message passing</a:t>
            </a:r>
          </a:p>
          <a:p>
            <a:pPr lvl="1"/>
            <a:r>
              <a:rPr lang="en-US" dirty="0"/>
              <a:t>LHS, execution time,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RHS, energy consumption, </a:t>
            </a:r>
            <a:r>
              <a:rPr lang="en-US" dirty="0" err="1"/>
              <a:t>mJ</a:t>
            </a:r>
            <a:endParaRPr lang="en-US" dirty="0"/>
          </a:p>
          <a:p>
            <a:pPr lvl="1"/>
            <a:r>
              <a:rPr lang="en-US" dirty="0"/>
              <a:t>Bottom, energy break-down for 200K nodes, </a:t>
            </a:r>
            <a:r>
              <a:rPr lang="en-US" dirty="0" err="1"/>
              <a:t>mJ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EE1D4-CE89-E440-1C53-221B69DFC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0" y="1397733"/>
            <a:ext cx="6059185" cy="223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05BA3B-DEFF-C4DC-58B5-8EFA067D9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665" y="1397733"/>
            <a:ext cx="5937180" cy="2230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9708C4-C2D8-3726-AF43-9367F8296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344" y="3877409"/>
            <a:ext cx="6611564" cy="252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42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8E93-FC61-B4DA-30FA-200794F4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Comparisons with Existing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9A6592-6E0A-284D-0120-C11DCAFFE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11" y="1570766"/>
            <a:ext cx="11909778" cy="483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90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556-B15B-B3EE-2824-A89C0383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64E4D-A4AA-3F19-0875-64339100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89" y="1955409"/>
            <a:ext cx="11356622" cy="4232843"/>
          </a:xfrm>
        </p:spPr>
        <p:txBody>
          <a:bodyPr>
            <a:normAutofit/>
          </a:bodyPr>
          <a:lstStyle/>
          <a:p>
            <a:r>
              <a:rPr lang="en-US" dirty="0"/>
              <a:t>PIMID advances PIM research through</a:t>
            </a:r>
          </a:p>
          <a:p>
            <a:pPr lvl="1"/>
            <a:r>
              <a:rPr lang="en-US" b="1" dirty="0"/>
              <a:t>Extensible</a:t>
            </a:r>
            <a:r>
              <a:rPr lang="en-US" dirty="0"/>
              <a:t> – More simulation models</a:t>
            </a:r>
          </a:p>
          <a:p>
            <a:pPr lvl="1"/>
            <a:r>
              <a:rPr lang="en-US" b="1" dirty="0"/>
              <a:t>Comprehensive scope</a:t>
            </a:r>
            <a:r>
              <a:rPr lang="en-US" dirty="0"/>
              <a:t> - host-device co-simulation</a:t>
            </a:r>
          </a:p>
          <a:p>
            <a:pPr lvl="1"/>
            <a:r>
              <a:rPr lang="en-US" b="1" dirty="0"/>
              <a:t>Technology diversity</a:t>
            </a:r>
            <a:r>
              <a:rPr lang="en-US" dirty="0"/>
              <a:t> - DRAM, SRAM, STT-MRAM support</a:t>
            </a:r>
          </a:p>
          <a:p>
            <a:pPr lvl="1"/>
            <a:r>
              <a:rPr lang="en-US" b="1" dirty="0"/>
              <a:t>Architectural flexibility</a:t>
            </a:r>
            <a:r>
              <a:rPr lang="en-US" dirty="0"/>
              <a:t> - Fine-grained PE placement with multiple addressing modes</a:t>
            </a:r>
          </a:p>
          <a:p>
            <a:pPr lvl="1"/>
            <a:r>
              <a:rPr lang="en-US" b="1" dirty="0"/>
              <a:t>Programming model for MP workloads </a:t>
            </a:r>
            <a:r>
              <a:rPr lang="en-US" dirty="0"/>
              <a:t>- OpenMP + MPI support</a:t>
            </a:r>
          </a:p>
          <a:p>
            <a:pPr lvl="1"/>
            <a:r>
              <a:rPr lang="en-US" b="1" dirty="0"/>
              <a:t>Detailed networking</a:t>
            </a:r>
            <a:r>
              <a:rPr lang="en-US" dirty="0"/>
              <a:t> - GARNET-based interconnects</a:t>
            </a:r>
          </a:p>
          <a:p>
            <a:pPr lvl="1"/>
            <a:r>
              <a:rPr lang="en-US" b="1" dirty="0"/>
              <a:t>Complete power modeling</a:t>
            </a:r>
            <a:r>
              <a:rPr lang="en-US" dirty="0"/>
              <a:t> - Host, PE, and memory power</a:t>
            </a:r>
          </a:p>
          <a:p>
            <a:pPr lvl="1"/>
            <a:endParaRPr lang="en-US" dirty="0"/>
          </a:p>
          <a:p>
            <a:r>
              <a:rPr lang="en-US" dirty="0"/>
              <a:t>Please stay tuned with us for the first release (soon)!</a:t>
            </a:r>
          </a:p>
        </p:txBody>
      </p:sp>
    </p:spTree>
    <p:extLst>
      <p:ext uri="{BB962C8B-B14F-4D97-AF65-F5344CB8AC3E}">
        <p14:creationId xmlns:p14="http://schemas.microsoft.com/office/powerpoint/2010/main" val="160100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5C33-5787-5CBA-6AE7-32F804BD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Back-up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DBA40-F1F5-5D00-CA5E-2B684C609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9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3866-F590-FDD5-9040-7095DD29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Future Work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14A53-0A70-7BDD-594B-F4BB82BE5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plan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release =&gt; Community access and contributions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Scheduled updates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Continued bug fixes and support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validation - validation support with FPGA?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Upgrade to Intel PIN 3</a:t>
            </a:r>
          </a:p>
        </p:txBody>
      </p:sp>
    </p:spTree>
    <p:extLst>
      <p:ext uri="{BB962C8B-B14F-4D97-AF65-F5344CB8AC3E}">
        <p14:creationId xmlns:p14="http://schemas.microsoft.com/office/powerpoint/2010/main" val="1565765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F0E3-F188-CDED-2DCE-B78B2E5A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(Potential) Power of PIM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E875-4653-BD21-7260-E698FD16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65" y="4032646"/>
            <a:ext cx="10849231" cy="26655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Assuming each bank has a PE and each PE can directly access the bank</a:t>
            </a:r>
          </a:p>
          <a:p>
            <a:r>
              <a:rPr lang="en-US" b="1" dirty="0"/>
              <a:t>Reality Check</a:t>
            </a:r>
          </a:p>
          <a:p>
            <a:pPr lvl="1"/>
            <a:r>
              <a:rPr lang="en-US" dirty="0"/>
              <a:t>While PIM offers </a:t>
            </a:r>
            <a:r>
              <a:rPr lang="en-US" b="1" dirty="0"/>
              <a:t>&gt;10× theoretical bandwidth advantage</a:t>
            </a:r>
            <a:r>
              <a:rPr lang="en-US" dirty="0"/>
              <a:t>, real applications typically see </a:t>
            </a:r>
            <a:r>
              <a:rPr lang="en-US" b="1" dirty="0"/>
              <a:t>2-10× improvement</a:t>
            </a:r>
            <a:r>
              <a:rPr lang="en-US" dirty="0"/>
              <a:t> due to data locality constraints. The true benefit isn't just bandwidth, but </a:t>
            </a:r>
            <a:r>
              <a:rPr lang="en-US" b="1" dirty="0"/>
              <a:t>massive energy savings</a:t>
            </a:r>
            <a:r>
              <a:rPr lang="en-US" dirty="0"/>
              <a:t> by eliminating data movement and enabling </a:t>
            </a:r>
            <a:r>
              <a:rPr lang="en-US" b="1" dirty="0"/>
              <a:t>highly parallel computations</a:t>
            </a:r>
            <a:r>
              <a:rPr lang="en-US" dirty="0"/>
              <a:t> where locality can be maintained.</a:t>
            </a:r>
          </a:p>
          <a:p>
            <a:pPr lvl="1"/>
            <a:r>
              <a:rPr lang="en-US" b="1" dirty="0"/>
              <a:t>Best suited for:</a:t>
            </a:r>
            <a:r>
              <a:rPr lang="en-US" dirty="0"/>
              <a:t> Matrix operations, image processing, neural network inference, and database analytics where data can stay local to computation.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4C492F-6226-296A-9F4D-D2DFB239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295" y="1370887"/>
            <a:ext cx="6697010" cy="2600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00B78-2D05-2A92-EBB3-60604FEFE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542" y="3061635"/>
            <a:ext cx="1743318" cy="571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C64A7F-35BC-DC63-2CF8-E0CDFC4BE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97644"/>
            <a:ext cx="3328001" cy="765926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7E147A67-A37F-ECA7-C56D-567C57498E87}"/>
              </a:ext>
            </a:extLst>
          </p:cNvPr>
          <p:cNvSpPr/>
          <p:nvPr/>
        </p:nvSpPr>
        <p:spPr>
          <a:xfrm>
            <a:off x="2333312" y="2671231"/>
            <a:ext cx="337778" cy="354046"/>
          </a:xfrm>
          <a:prstGeom prst="plus">
            <a:avLst>
              <a:gd name="adj" fmla="val 3889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31C943-375C-79BE-4AFD-8C471F635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668" y="159786"/>
            <a:ext cx="3589265" cy="115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20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64FA-A561-145E-839A-1BA06787C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E6E-7544-BED3-F4B0-EC347AF9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(Potential) Power of PIM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49809-235E-1A5D-45E8-5B60E6234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65" y="4131280"/>
            <a:ext cx="10849231" cy="256693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Assuming each bank has a PE and each PE can directly access the bank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b="1" dirty="0"/>
              <a:t>Data Locality:</a:t>
            </a:r>
            <a:r>
              <a:rPr lang="en-US" dirty="0"/>
              <a:t> </a:t>
            </a:r>
            <a:r>
              <a:rPr lang="en-US" b="1" dirty="0"/>
              <a:t>D</a:t>
            </a:r>
            <a:r>
              <a:rPr lang="en-US" dirty="0"/>
              <a:t>ata must be in the right bank for processing</a:t>
            </a:r>
          </a:p>
          <a:p>
            <a:pPr lvl="1"/>
            <a:r>
              <a:rPr lang="en-US" b="1" dirty="0"/>
              <a:t>Inter-Bank Communication:</a:t>
            </a:r>
            <a:r>
              <a:rPr lang="en-US" dirty="0"/>
              <a:t> Moving data between banks is </a:t>
            </a:r>
            <a:r>
              <a:rPr lang="en-US" b="1" dirty="0"/>
              <a:t>very expensive</a:t>
            </a:r>
            <a:endParaRPr lang="en-US" dirty="0"/>
          </a:p>
          <a:p>
            <a:pPr lvl="1"/>
            <a:r>
              <a:rPr lang="en-US" b="1" dirty="0"/>
              <a:t>Load Balancing:</a:t>
            </a:r>
            <a:r>
              <a:rPr lang="en-US" dirty="0"/>
              <a:t> Uneven workloads leave many banks </a:t>
            </a:r>
            <a:r>
              <a:rPr lang="en-US" b="1" dirty="0"/>
              <a:t>idle</a:t>
            </a:r>
            <a:endParaRPr lang="en-US" dirty="0"/>
          </a:p>
          <a:p>
            <a:pPr lvl="1"/>
            <a:r>
              <a:rPr lang="en-US" b="1" dirty="0"/>
              <a:t>Programming Complexity:</a:t>
            </a:r>
            <a:r>
              <a:rPr lang="en-US" dirty="0"/>
              <a:t> Applications need </a:t>
            </a:r>
            <a:r>
              <a:rPr lang="en-US" b="1" dirty="0"/>
              <a:t>complete restructuring</a:t>
            </a:r>
            <a:endParaRPr lang="en-US" dirty="0"/>
          </a:p>
          <a:p>
            <a:pPr lvl="1"/>
            <a:r>
              <a:rPr lang="en-US" b="1" dirty="0"/>
              <a:t>Limited Per-Bank Compute:</a:t>
            </a:r>
            <a:r>
              <a:rPr lang="en-US" dirty="0"/>
              <a:t> Each PE typically has </a:t>
            </a:r>
            <a:r>
              <a:rPr lang="en-US" b="1" dirty="0"/>
              <a:t>simple capabilities</a:t>
            </a:r>
            <a:endParaRPr lang="en-US" dirty="0"/>
          </a:p>
          <a:p>
            <a:pPr lvl="1"/>
            <a:r>
              <a:rPr lang="en-US" b="1" dirty="0"/>
              <a:t>Power &amp; Thermal:</a:t>
            </a:r>
            <a:r>
              <a:rPr lang="en-US" dirty="0"/>
              <a:t> 2,048 parallel units create </a:t>
            </a:r>
            <a:r>
              <a:rPr lang="en-US" b="1" dirty="0"/>
              <a:t>heat challenges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F1704A-2EC1-624D-E641-575D44572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295" y="1370887"/>
            <a:ext cx="6697010" cy="2600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28256F-8B57-0F1F-4BE0-329987460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542" y="3061635"/>
            <a:ext cx="1743318" cy="571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82FB6B-CF81-16F8-3986-E675B7289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97644"/>
            <a:ext cx="3328001" cy="765926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B1F7980D-4115-244A-5BB5-7B03A34A21A9}"/>
              </a:ext>
            </a:extLst>
          </p:cNvPr>
          <p:cNvSpPr/>
          <p:nvPr/>
        </p:nvSpPr>
        <p:spPr>
          <a:xfrm>
            <a:off x="2333312" y="2671231"/>
            <a:ext cx="337778" cy="354046"/>
          </a:xfrm>
          <a:prstGeom prst="plus">
            <a:avLst>
              <a:gd name="adj" fmla="val 3889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5C1D96-15D9-8D8B-2D60-807F1A15C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668" y="159786"/>
            <a:ext cx="3589265" cy="1150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FE8323-BF8F-099E-AF05-CF95457BBEB0}"/>
              </a:ext>
            </a:extLst>
          </p:cNvPr>
          <p:cNvSpPr txBox="1"/>
          <p:nvPr/>
        </p:nvSpPr>
        <p:spPr>
          <a:xfrm>
            <a:off x="9531180" y="5365319"/>
            <a:ext cx="26443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Subarray: 3.3-6.6TB/s</a:t>
            </a:r>
          </a:p>
          <a:p>
            <a:r>
              <a:rPr lang="en-US" dirty="0"/>
              <a:t>Bank: 820GB/s</a:t>
            </a:r>
          </a:p>
          <a:p>
            <a:r>
              <a:rPr lang="en-US" dirty="0"/>
              <a:t>Bank Group: 205-410GB/s</a:t>
            </a:r>
          </a:p>
          <a:p>
            <a:r>
              <a:rPr lang="en-US" dirty="0"/>
              <a:t>Chip: 153.6GB/s</a:t>
            </a:r>
          </a:p>
          <a:p>
            <a:r>
              <a:rPr lang="en-US" dirty="0"/>
              <a:t>Rank: 153.6GB/s</a:t>
            </a:r>
          </a:p>
        </p:txBody>
      </p:sp>
    </p:spTree>
    <p:extLst>
      <p:ext uri="{BB962C8B-B14F-4D97-AF65-F5344CB8AC3E}">
        <p14:creationId xmlns:p14="http://schemas.microsoft.com/office/powerpoint/2010/main" val="2038673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06A2-A8A7-ABCA-4D06-F5710FF1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Our Solution =&gt; PIMID</a:t>
            </a:r>
            <a:endParaRPr lang="en-US" sz="4800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CA57-73EB-05F4-47B6-565FCC25F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85" y="1547446"/>
            <a:ext cx="7324621" cy="4811151"/>
          </a:xfrm>
        </p:spPr>
        <p:txBody>
          <a:bodyPr>
            <a:normAutofit fontScale="70000" lnSpcReduction="20000"/>
          </a:bodyPr>
          <a:lstStyle/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comprehensive full-system PIM simulator built on proven foundations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Extended from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https://github.com/Systems-ShiftLab/MultiPIM</a:t>
            </a:r>
          </a:p>
          <a:p>
            <a:pPr lvl="1"/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MultiPIM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itself is already a somehow mature simulator allowing architectural exploration on PIM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exetended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with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capabilities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to add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Co-simulation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host and PIM devices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memory technologies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support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Finer-grained configurability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model 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 the memory system</a:t>
            </a:r>
          </a:p>
          <a:p>
            <a:pPr lvl="1"/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Model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compute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B569D-FD4A-7237-9556-A0815959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621" y="3744729"/>
            <a:ext cx="4346394" cy="1937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547B0B-4889-1CC2-A621-C91A6FA2B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944" y="599680"/>
            <a:ext cx="819264" cy="2829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01747-3686-14A2-A79B-F5254959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208" y="599680"/>
            <a:ext cx="819264" cy="2829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CE1E14-5F10-20F6-982B-F415948DE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472" y="599680"/>
            <a:ext cx="819264" cy="2829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E75FEF-B857-78E8-421C-5DE8D2DF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751" y="599680"/>
            <a:ext cx="819264" cy="282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34DF2E3-6196-B602-0E54-88E9E093BF45}"/>
              </a:ext>
            </a:extLst>
          </p:cNvPr>
          <p:cNvSpPr/>
          <p:nvPr/>
        </p:nvSpPr>
        <p:spPr>
          <a:xfrm>
            <a:off x="7732918" y="735058"/>
            <a:ext cx="773725" cy="754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517D76-328C-34DC-6328-63D81FD4316A}"/>
              </a:ext>
            </a:extLst>
          </p:cNvPr>
          <p:cNvSpPr/>
          <p:nvPr/>
        </p:nvSpPr>
        <p:spPr>
          <a:xfrm>
            <a:off x="7732919" y="1903258"/>
            <a:ext cx="773725" cy="39862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MC</a:t>
            </a:r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8E5F7A57-E63D-3577-C759-FA969B644124}"/>
              </a:ext>
            </a:extLst>
          </p:cNvPr>
          <p:cNvSpPr/>
          <p:nvPr/>
        </p:nvSpPr>
        <p:spPr>
          <a:xfrm>
            <a:off x="7998184" y="1512974"/>
            <a:ext cx="243191" cy="378175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19E3C2B9-B6BC-6A4B-606E-B8406AE317CE}"/>
              </a:ext>
            </a:extLst>
          </p:cNvPr>
          <p:cNvSpPr/>
          <p:nvPr/>
        </p:nvSpPr>
        <p:spPr>
          <a:xfrm rot="16200000" flipH="1">
            <a:off x="10012359" y="515533"/>
            <a:ext cx="224722" cy="3166067"/>
          </a:xfrm>
          <a:prstGeom prst="upDownArrow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29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9A98-E0BB-D291-FD6E-6A1D31BE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90" y="409893"/>
            <a:ext cx="11051822" cy="132556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Generation High Performance Architecture Research Team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RIKEN Center for Computational Science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7BAAE-B875-1EA1-6D2B-C171DDC35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968" y="1923209"/>
            <a:ext cx="7678222" cy="432495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EE0B0BC-4D1C-3182-2445-595CAFE449DF}"/>
              </a:ext>
            </a:extLst>
          </p:cNvPr>
          <p:cNvSpPr/>
          <p:nvPr/>
        </p:nvSpPr>
        <p:spPr>
          <a:xfrm rot="19843133">
            <a:off x="865844" y="1996396"/>
            <a:ext cx="2968977" cy="1456267"/>
          </a:xfrm>
          <a:prstGeom prst="ellipse">
            <a:avLst/>
          </a:prstGeom>
          <a:noFill/>
          <a:ln w="127000" cmpd="thickThin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FugakuNEXT</a:t>
            </a:r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04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1212</Words>
  <Application>Microsoft Office PowerPoint</Application>
  <PresentationFormat>Widescreen</PresentationFormat>
  <Paragraphs>176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  PIMID: A Full-System Simulator with Intricacy and Diversity for Processing-in-Memory</vt:lpstr>
      <vt:lpstr>Outline</vt:lpstr>
      <vt:lpstr>The Memory Wall Challenge</vt:lpstr>
      <vt:lpstr>Challenges in Current PIM Research Tools</vt:lpstr>
      <vt:lpstr>Our Solution =&gt; PIMID</vt:lpstr>
      <vt:lpstr>Key Feature 1: Interface for Extensions</vt:lpstr>
      <vt:lpstr>Key Feature 2: Host-Device Co-Simulation</vt:lpstr>
      <vt:lpstr>Key Feature 3: Multiple Memory Technologies</vt:lpstr>
      <vt:lpstr>Key Feature 4: Fine-Grained PE Placements</vt:lpstr>
      <vt:lpstr>Key Feature 5: Multiple Programming Model Support</vt:lpstr>
      <vt:lpstr>Key Feature 6: Flexible Network Support</vt:lpstr>
      <vt:lpstr>Key Feature 7: Comprehensive Power Modeling</vt:lpstr>
      <vt:lpstr>Sample evaluation results</vt:lpstr>
      <vt:lpstr>Comparisons with Existing Tools</vt:lpstr>
      <vt:lpstr>Conclusions</vt:lpstr>
      <vt:lpstr>Back-up slides</vt:lpstr>
      <vt:lpstr>Future Work</vt:lpstr>
      <vt:lpstr>(Potential) Power of PIM</vt:lpstr>
      <vt:lpstr>(Potential) Power of PIM (cont.)</vt:lpstr>
      <vt:lpstr>Our Solution =&gt; PIMID</vt:lpstr>
      <vt:lpstr>Next Generation High Performance Architecture Research Team RIKEN Center for Computational Science</vt:lpstr>
    </vt:vector>
  </TitlesOfParts>
  <Company>R-CCS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He</dc:creator>
  <cp:lastModifiedBy>Isaac He</cp:lastModifiedBy>
  <cp:revision>114</cp:revision>
  <dcterms:created xsi:type="dcterms:W3CDTF">2025-08-21T16:26:07Z</dcterms:created>
  <dcterms:modified xsi:type="dcterms:W3CDTF">2025-09-22T13:51:20Z</dcterms:modified>
</cp:coreProperties>
</file>